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24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EB775-34A9-4E4C-BD43-A0B1396749AA}" v="6" dt="2026-07-13T05:21:51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Relationship Id="rId24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alien" userId="aca46dfaeb01217b" providerId="LiveId" clId="{B827415E-A761-414C-A597-837DC8B4D4B8}"/>
    <pc:docChg chg="undo custSel modSld">
      <pc:chgData name="lee alien" userId="aca46dfaeb01217b" providerId="LiveId" clId="{B827415E-A761-414C-A597-837DC8B4D4B8}" dt="2026-07-13T05:22:03.544" v="34" actId="1076"/>
      <pc:docMkLst>
        <pc:docMk/>
      </pc:docMkLst>
      <pc:sldChg chg="addSp modSp mod">
        <pc:chgData name="lee alien" userId="aca46dfaeb01217b" providerId="LiveId" clId="{B827415E-A761-414C-A597-837DC8B4D4B8}" dt="2026-07-13T05:22:03.544" v="34" actId="1076"/>
        <pc:sldMkLst>
          <pc:docMk/>
          <pc:sldMk cId="0" sldId="265"/>
        </pc:sldMkLst>
        <pc:spChg chg="add mod">
          <ac:chgData name="lee alien" userId="aca46dfaeb01217b" providerId="LiveId" clId="{B827415E-A761-414C-A597-837DC8B4D4B8}" dt="2026-07-13T05:21:32.615" v="12" actId="1076"/>
          <ac:spMkLst>
            <pc:docMk/>
            <pc:sldMk cId="0" sldId="265"/>
            <ac:spMk id="4" creationId="{47C544E2-709D-B9DD-EC8C-73E62B5339E3}"/>
          </ac:spMkLst>
        </pc:spChg>
        <pc:spChg chg="add mod">
          <ac:chgData name="lee alien" userId="aca46dfaeb01217b" providerId="LiveId" clId="{B827415E-A761-414C-A597-837DC8B4D4B8}" dt="2026-07-13T05:21:54.836" v="30" actId="20577"/>
          <ac:spMkLst>
            <pc:docMk/>
            <pc:sldMk cId="0" sldId="265"/>
            <ac:spMk id="5" creationId="{48DBF52C-2128-610A-8BE8-DB4C49A41AC4}"/>
          </ac:spMkLst>
        </pc:spChg>
        <pc:spChg chg="add mod">
          <ac:chgData name="lee alien" userId="aca46dfaeb01217b" providerId="LiveId" clId="{B827415E-A761-414C-A597-837DC8B4D4B8}" dt="2026-07-13T05:22:03.544" v="34" actId="1076"/>
          <ac:spMkLst>
            <pc:docMk/>
            <pc:sldMk cId="0" sldId="265"/>
            <ac:spMk id="7" creationId="{3AF9460E-AB1A-D1FC-3BC7-55C138E7C2E1}"/>
          </ac:spMkLst>
        </pc:spChg>
        <pc:picChg chg="mod">
          <ac:chgData name="lee alien" userId="aca46dfaeb01217b" providerId="LiveId" clId="{B827415E-A761-414C-A597-837DC8B4D4B8}" dt="2026-07-13T05:22:00.484" v="33" actId="1076"/>
          <ac:picMkLst>
            <pc:docMk/>
            <pc:sldMk cId="0" sldId="265"/>
            <ac:picMk id="3" creationId="{00000000-0000-0000-0000-000000000000}"/>
          </ac:picMkLst>
        </pc:picChg>
      </pc:sldChg>
    </pc:docChg>
  </pc:docChgLst>
  <pc:docChgLst>
    <pc:chgData name="lee alien" userId="aca46dfaeb01217b" providerId="LiveId" clId="{EDC47E98-FBA3-4C95-BEF8-B96D5326833C}"/>
    <pc:docChg chg="custSel modSld">
      <pc:chgData name="lee alien" userId="aca46dfaeb01217b" providerId="LiveId" clId="{EDC47E98-FBA3-4C95-BEF8-B96D5326833C}" dt="2026-07-12T14:02:15.185" v="25" actId="5793"/>
      <pc:docMkLst>
        <pc:docMk/>
      </pc:docMkLst>
      <pc:sldChg chg="delSp mod">
        <pc:chgData name="lee alien" userId="aca46dfaeb01217b" providerId="LiveId" clId="{EDC47E98-FBA3-4C95-BEF8-B96D5326833C}" dt="2026-07-12T13:59:21.135" v="0" actId="478"/>
        <pc:sldMkLst>
          <pc:docMk/>
          <pc:sldMk cId="0" sldId="257"/>
        </pc:sldMkLst>
        <pc:spChg chg="del">
          <ac:chgData name="lee alien" userId="aca46dfaeb01217b" providerId="LiveId" clId="{EDC47E98-FBA3-4C95-BEF8-B96D5326833C}" dt="2026-07-12T13:59:21.135" v="0" actId="478"/>
          <ac:spMkLst>
            <pc:docMk/>
            <pc:sldMk cId="0" sldId="257"/>
            <ac:spMk id="5" creationId="{00000000-0000-0000-0000-000000000000}"/>
          </ac:spMkLst>
        </pc:spChg>
      </pc:sldChg>
      <pc:sldChg chg="delSp mod">
        <pc:chgData name="lee alien" userId="aca46dfaeb01217b" providerId="LiveId" clId="{EDC47E98-FBA3-4C95-BEF8-B96D5326833C}" dt="2026-07-12T14:00:08.770" v="1" actId="478"/>
        <pc:sldMkLst>
          <pc:docMk/>
          <pc:sldMk cId="0" sldId="258"/>
        </pc:sldMkLst>
        <pc:spChg chg="del">
          <ac:chgData name="lee alien" userId="aca46dfaeb01217b" providerId="LiveId" clId="{EDC47E98-FBA3-4C95-BEF8-B96D5326833C}" dt="2026-07-12T14:00:08.770" v="1" actId="478"/>
          <ac:spMkLst>
            <pc:docMk/>
            <pc:sldMk cId="0" sldId="258"/>
            <ac:spMk id="5" creationId="{00000000-0000-0000-0000-000000000000}"/>
          </ac:spMkLst>
        </pc:spChg>
      </pc:sldChg>
      <pc:sldChg chg="delSp modSp mod">
        <pc:chgData name="lee alien" userId="aca46dfaeb01217b" providerId="LiveId" clId="{EDC47E98-FBA3-4C95-BEF8-B96D5326833C}" dt="2026-07-12T14:00:43.341" v="13" actId="6549"/>
        <pc:sldMkLst>
          <pc:docMk/>
          <pc:sldMk cId="0" sldId="259"/>
        </pc:sldMkLst>
        <pc:spChg chg="mod">
          <ac:chgData name="lee alien" userId="aca46dfaeb01217b" providerId="LiveId" clId="{EDC47E98-FBA3-4C95-BEF8-B96D5326833C}" dt="2026-07-12T14:00:43.341" v="13" actId="6549"/>
          <ac:spMkLst>
            <pc:docMk/>
            <pc:sldMk cId="0" sldId="259"/>
            <ac:spMk id="12" creationId="{00000000-0000-0000-0000-000000000000}"/>
          </ac:spMkLst>
        </pc:spChg>
        <pc:spChg chg="del">
          <ac:chgData name="lee alien" userId="aca46dfaeb01217b" providerId="LiveId" clId="{EDC47E98-FBA3-4C95-BEF8-B96D5326833C}" dt="2026-07-12T14:00:29.935" v="2" actId="478"/>
          <ac:spMkLst>
            <pc:docMk/>
            <pc:sldMk cId="0" sldId="259"/>
            <ac:spMk id="22" creationId="{00000000-0000-0000-0000-000000000000}"/>
          </ac:spMkLst>
        </pc:spChg>
      </pc:sldChg>
      <pc:sldChg chg="delSp mod">
        <pc:chgData name="lee alien" userId="aca46dfaeb01217b" providerId="LiveId" clId="{EDC47E98-FBA3-4C95-BEF8-B96D5326833C}" dt="2026-07-12T14:01:25.099" v="14" actId="478"/>
        <pc:sldMkLst>
          <pc:docMk/>
          <pc:sldMk cId="0" sldId="260"/>
        </pc:sldMkLst>
        <pc:spChg chg="del">
          <ac:chgData name="lee alien" userId="aca46dfaeb01217b" providerId="LiveId" clId="{EDC47E98-FBA3-4C95-BEF8-B96D5326833C}" dt="2026-07-12T14:01:25.099" v="14" actId="478"/>
          <ac:spMkLst>
            <pc:docMk/>
            <pc:sldMk cId="0" sldId="260"/>
            <ac:spMk id="7" creationId="{00000000-0000-0000-0000-000000000000}"/>
          </ac:spMkLst>
        </pc:spChg>
      </pc:sldChg>
      <pc:sldChg chg="delSp modSp mod">
        <pc:chgData name="lee alien" userId="aca46dfaeb01217b" providerId="LiveId" clId="{EDC47E98-FBA3-4C95-BEF8-B96D5326833C}" dt="2026-07-12T14:02:15.185" v="25" actId="5793"/>
        <pc:sldMkLst>
          <pc:docMk/>
          <pc:sldMk cId="0" sldId="261"/>
        </pc:sldMkLst>
        <pc:spChg chg="mod">
          <ac:chgData name="lee alien" userId="aca46dfaeb01217b" providerId="LiveId" clId="{EDC47E98-FBA3-4C95-BEF8-B96D5326833C}" dt="2026-07-12T14:02:15.185" v="25" actId="5793"/>
          <ac:spMkLst>
            <pc:docMk/>
            <pc:sldMk cId="0" sldId="261"/>
            <ac:spMk id="7" creationId="{00000000-0000-0000-0000-000000000000}"/>
          </ac:spMkLst>
        </pc:spChg>
        <pc:spChg chg="del">
          <ac:chgData name="lee alien" userId="aca46dfaeb01217b" providerId="LiveId" clId="{EDC47E98-FBA3-4C95-BEF8-B96D5326833C}" dt="2026-07-12T14:01:39.772" v="15" actId="478"/>
          <ac:spMkLst>
            <pc:docMk/>
            <pc:sldMk cId="0" sldId="26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279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開場別太正式：我最近的一個觀察，我們用 AI 是有『世代』的，而大多數人可能卡在同一代。這只是一點心得，講不對大家一起補。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自嘲拉近距離。問一句暖場：你們是不是也這樣？它做完一件、你再叫它做下一件。等笑聲。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先看四代長怎樣，重點在後兩代——那才是真正省力的地方。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快速走過四代，等下細講。前兩代大家都熟。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 剛紅那陣，拿它查東西、問問題，很好用。但它只是會講話的 Google。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把提示詞當魔法咒語、念越長越靈（誇張一點，會笑）。但你只是從問得爛升級成問得好，還是一件一件自己做。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戳破誤會：交辦不是提示詞寫用心一點。同一句話丟給只會回答的 AI，還是你做，那就還是 2.0。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第三句最關鍵：講不出怎樣算對，就只能站旁邊一步一步盯。這頁請大家拍照。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出來：老做法重複二十幾遍。新做法四句話一次交辦，拿到一張它自己對過的表。【暗樁A時機】前排問『它做錯亂搞怎麼辦？我不敢放手』→你回：解法不是自己盯，是把怎樣算對講死+東西過你的手才出去，這叫授權不叫失控。補哏：全世界唯一可以無限退稿還不用怕被投訴到 HR 的同事。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b="1" dirty="0"/>
              <a:t>開場：</a:t>
            </a:r>
            <a:r>
              <a:rPr lang="zh-TW" dirty="0"/>
              <a:t>這張是完整版，先看最上面三道「安全欄杆」——這三道隨時都在盯著，不管中間跑到第幾步，只要出狀況就會跳出來擋下來；接著中間那七個動作，才是實際在做的事。</a:t>
            </a:r>
          </a:p>
          <a:p>
            <a:r>
              <a:rPr lang="zh-TW" b="1" dirty="0"/>
              <a:t>🙋 碰到錢‧權限‧看不懂：</a:t>
            </a:r>
            <a:r>
              <a:rPr lang="zh-TW" dirty="0"/>
              <a:t>停下來問人拍板。我們系統的決策紀錄裡，像「先小範圍試營運，還是直接對全公司上線」「Excel 匯入要不要正式寫進資料庫」這種決定，機器都不會自己拍板，會停下來等我確認，確認了才會白紙黑字記下來、繼續往下做。</a:t>
            </a:r>
          </a:p>
          <a:p>
            <a:r>
              <a:rPr lang="zh-TW" b="1" dirty="0"/>
              <a:t>⛔ 時間／花費到頂：</a:t>
            </a:r>
            <a:r>
              <a:rPr lang="zh-TW" dirty="0"/>
              <a:t>踩煞車，交進度報告。我們這台引擎有設定「最多跑幾輪、最多跑幾分鐘」的上限，一到頂就自動停下來，把「完成幾件、卡住幾件、還剩幾件」整理成一份報告給我看，不會沒日沒夜燒下去。</a:t>
            </a:r>
          </a:p>
          <a:p>
            <a:r>
              <a:rPr lang="zh-TW" b="1" dirty="0"/>
              <a:t>🛑 修不好／方向走歪：</a:t>
            </a:r>
            <a:r>
              <a:rPr lang="zh-TW" dirty="0"/>
              <a:t>叫人，不鬼打牆。同一件事連續失敗到一定次數（我們設定是 3 次），就會主動標記「這個我處理不了」，寫進決策紀錄請人判斷，不會一直卡在原地硬做。</a:t>
            </a:r>
          </a:p>
          <a:p>
            <a:r>
              <a:rPr lang="zh-TW" b="1" dirty="0"/>
              <a:t>🎯 交辦一個大目標：</a:t>
            </a:r>
            <a:r>
              <a:rPr lang="zh-TW" dirty="0"/>
              <a:t>開工前，先把大目標拆成小塊、排進待辦清單，每一塊先講清楚「怎樣算對」，這份計畫你會先看過。像我們最開始交辦的就是「做一套費用合約控管系統」，這句話本身沒法直接動手，要先拆。</a:t>
            </a:r>
          </a:p>
          <a:p>
            <a:r>
              <a:rPr lang="zh-TW" b="1" dirty="0"/>
              <a:t>① 拆成小塊、排進待辦：</a:t>
            </a:r>
            <a:r>
              <a:rPr lang="zh-TW" dirty="0"/>
              <a:t>大目標不會一次做完，先拆成一件件做得完的小任務，例如案件、合約、預算、專案、簽呈、請購這「八大功能」，每個功能再拆更細，先做後端規則，再做前端按鈕。</a:t>
            </a:r>
          </a:p>
          <a:p>
            <a:r>
              <a:rPr lang="zh-TW" b="1" dirty="0"/>
              <a:t>② 看現況：</a:t>
            </a:r>
            <a:r>
              <a:rPr lang="zh-TW" dirty="0"/>
              <a:t>動手前先看清楚狀況、複習之前已經拍板的決定，不會重做或做出矛盾的事。我們系統裡有一份現況紀錄，每次開工前都先看一遍。</a:t>
            </a:r>
          </a:p>
          <a:p>
            <a:r>
              <a:rPr lang="zh-TW" b="1" dirty="0"/>
              <a:t>③ 做這一塊：</a:t>
            </a:r>
            <a:r>
              <a:rPr lang="zh-TW" dirty="0"/>
              <a:t>只碰這一塊該做的事，不會順手改到別的地方。像「合約快到期主動提醒承辦人」就是單獨挑出來做的一件事。</a:t>
            </a:r>
          </a:p>
          <a:p>
            <a:r>
              <a:rPr lang="zh-TW" b="1" dirty="0"/>
              <a:t>④ 過關卡：</a:t>
            </a:r>
            <a:r>
              <a:rPr lang="zh-TW" dirty="0"/>
              <a:t>安全、沒走歪，過不了就擋下來，不能自己說做完就算數。要跑一次自動檢查——測試有沒有全過、密碼有沒有寫死、跟已拍板的決定有沒有矛盾，全部沒問題才算過。</a:t>
            </a:r>
          </a:p>
          <a:p>
            <a:r>
              <a:rPr lang="zh-TW" b="1" dirty="0"/>
              <a:t>⑤ 過了存檔：</a:t>
            </a:r>
            <a:r>
              <a:rPr lang="zh-TW" dirty="0"/>
              <a:t>這是一個可以退回去的存檔點，只有真的過關才會留下，並附一句話說明做了什麼，方便之後回頭查或退回。</a:t>
            </a:r>
          </a:p>
          <a:p>
            <a:r>
              <a:rPr lang="zh-TW" b="1" dirty="0"/>
              <a:t>⑥ 抽查報告：</a:t>
            </a:r>
            <a:r>
              <a:rPr lang="zh-TW" dirty="0"/>
              <a:t>每做幾塊，就主動交一份報告讓你瞄一眼，不用你自己去查細節或讀程式碼。</a:t>
            </a:r>
          </a:p>
          <a:p>
            <a:r>
              <a:rPr lang="zh-TW" b="1" dirty="0"/>
              <a:t>⑦ 還有下一塊：</a:t>
            </a:r>
            <a:r>
              <a:rPr lang="zh-TW" dirty="0"/>
              <a:t>有就自動接著做下一件，不用你每一件都下指令；我們的八大功能就是這樣一路做出來的。清單空了，就進到最後檢查。</a:t>
            </a:r>
          </a:p>
          <a:p>
            <a:r>
              <a:rPr lang="zh-TW" b="1" dirty="0"/>
              <a:t>✅ 自我檢查沒漏、交付：</a:t>
            </a:r>
            <a:r>
              <a:rPr lang="zh-TW" dirty="0"/>
              <a:t>確認能正常運作、每一關都過、紀錄完整，附一份「做了什麼」的總結報告，這才是真的做完，不是嘴上說完成。我們現在真的有一份「怎麼開始使用」的說明文件，寫清楚怎麼設定、啟動、備份，也誠實列出目前是先給少數人小範圍試用，還沒對全公司開放。</a:t>
            </a:r>
          </a:p>
          <a:p>
            <a:r>
              <a:rPr lang="zh-TW" b="1" dirty="0"/>
              <a:t>結尾：</a:t>
            </a:r>
            <a:r>
              <a:rPr lang="zh-TW" dirty="0"/>
              <a:t>這張圖跟前一張其實是同一套機制，這張把三道安全欄杆畫得更清楚——不管自動化做到多深，錢、權限、方向這三件事，一定是人在把關，機器只負責把小事做完。（提詞：如果有人問「這麼複雜，一般人有份嗎」，可以回：有份，但不用今天就記住整張圖，你的第一步就是提供你那份要拆解的小任務，走一步是一步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b="1" dirty="0"/>
              <a:t>開場：</a:t>
            </a:r>
            <a:r>
              <a:rPr lang="zh-TW" dirty="0"/>
              <a:t>這台機器做事，就像交辦給一位很有紀律的新同事——不會一次吞下整個大專案，而是拆成一件件小工作、做一件驗一件、做完留紀錄、主動回報進度，然後自己問「還有沒有下一件」。</a:t>
            </a:r>
          </a:p>
          <a:p>
            <a:r>
              <a:rPr lang="zh-TW" b="1" dirty="0"/>
              <a:t>① 拆待辦：</a:t>
            </a:r>
            <a:r>
              <a:rPr lang="zh-TW" dirty="0"/>
              <a:t>先把大目標拆成一件件做得完的小工作。交辦「做一套系統」沒法直接動手，要先拆成具體、一次做得完的任務。我們這套費用合約系統最後就是拆成案件、合約、預算、專案、簽呈、請購等「八大功能」；同一個「兩人一起簽核」的需求，還會再拆更細，先做後端規則，再做前端的送出／核准按鈕，分兩步驟做。</a:t>
            </a:r>
          </a:p>
          <a:p>
            <a:r>
              <a:rPr lang="zh-TW" b="1" dirty="0"/>
              <a:t>② 看現況：</a:t>
            </a:r>
            <a:r>
              <a:rPr lang="zh-TW" dirty="0"/>
              <a:t>動手前先確認進度到哪、之前已經拍板的事是什麼，不會重做或做出矛盾的東西。我們系統裡有一份現況紀錄，每次開工前一定先看一遍，上面清楚寫著像「資料庫已經拍板用哪一種」「帳號密碼機制怎麼做」這類決定，不會這輪又重講一次或改掉。</a:t>
            </a:r>
          </a:p>
          <a:p>
            <a:r>
              <a:rPr lang="zh-TW" b="1" dirty="0"/>
              <a:t>③ 做這一塊：</a:t>
            </a:r>
            <a:r>
              <a:rPr lang="zh-TW" dirty="0"/>
              <a:t>專心做手上這一件，不節外生枝。像「案件或合約快到期，要在系統裡主動列出來提醒承辦人」，就是這樣單獨挑出來做的一件事，做的時候不會順便去改別的功能。</a:t>
            </a:r>
          </a:p>
          <a:p>
            <a:r>
              <a:rPr lang="zh-TW" b="1" dirty="0"/>
              <a:t>④ 過關卡：</a:t>
            </a:r>
            <a:r>
              <a:rPr lang="zh-TW" dirty="0"/>
              <a:t>做完不能自己說了算，要通過檢查才算數。做完會自動跑一次檢查，包含「該過的測試有沒有全部通過」「密碼會不會不小心寫死在檔案裡」「跟已經拍板的決定會不會互相矛盾」，這幾項全部沒問題才算過關；我們系統目前這個檢查已經跑過上百次，沒過就是沒過，不能硬拗成已完成。</a:t>
            </a:r>
          </a:p>
          <a:p>
            <a:r>
              <a:rPr lang="zh-TW" b="1" dirty="0"/>
              <a:t>⑤ 存檔：</a:t>
            </a:r>
            <a:r>
              <a:rPr lang="zh-TW" dirty="0"/>
              <a:t>通過檢查才留下紀錄，並寫清楚這次做了什麼。像「補齊兩人一起簽核」「合約快到期主動提醒」這種紀錄，我們系統已經留了上百筆；半年後想查某個功能是什麼時候、為什麼這樣做，翻紀錄就查得到，不用問人。</a:t>
            </a:r>
          </a:p>
          <a:p>
            <a:r>
              <a:rPr lang="zh-TW" b="1" dirty="0"/>
              <a:t>⑥ 抽查報告：</a:t>
            </a:r>
            <a:r>
              <a:rPr lang="zh-TW" dirty="0"/>
              <a:t>主動交一份進度報告，不用你自己去查。每輪做完，機器會自動產出一份簡單報告，告訴我這次做了什麼、驗證結果如何，我不用自己去讀程式碼確認。</a:t>
            </a:r>
          </a:p>
          <a:p>
            <a:r>
              <a:rPr lang="zh-TW" b="1" dirty="0"/>
              <a:t>⑦ 還有下一塊：</a:t>
            </a:r>
            <a:r>
              <a:rPr lang="zh-TW" dirty="0"/>
              <a:t>做完一件會自己回頭看清單還有沒有沒做的，有就接著做。我們的「八大功能」就是這樣一路做出來的：先做完兩人一起簽核，再做合約到期提醒，接著把預算、專案、簽呈、請購都補齊，一路做到現在的主要功能都做完，不用我每一件都下命令。</a:t>
            </a:r>
          </a:p>
          <a:p>
            <a:r>
              <a:rPr lang="zh-TW" b="1" dirty="0"/>
              <a:t>絆線：</a:t>
            </a:r>
            <a:r>
              <a:rPr lang="zh-TW" dirty="0"/>
              <a:t>遇到自己不該決定的重大事項會停下來請示，不會自作主張。像「先小範圍試營運，還是直接對全公司上線」「Excel 匯入要不要正式寫進資料庫」這種決定，我們系統都是先停下來，等我確認過方向、白紙黑字拍板記下來，才會繼續動工。</a:t>
            </a:r>
          </a:p>
          <a:p>
            <a:r>
              <a:rPr lang="zh-TW" b="1" dirty="0"/>
              <a:t>交付：</a:t>
            </a:r>
            <a:r>
              <a:rPr lang="zh-TW" dirty="0"/>
              <a:t>真的把東西做出來、能用、上線運作，不是嘴上說完成而已。我們現在真的有一份「怎麼開始使用」的說明文件，寫清楚帳號密碼怎麼設定、系統怎麼啟動、資料怎麼備份，也誠實列出目前做不到的地方——例如現在是先給少數人小範圍試用，還沒有對全公司開放。</a:t>
            </a:r>
          </a:p>
          <a:p>
            <a:r>
              <a:rPr lang="zh-TW" b="1" dirty="0"/>
              <a:t>結尾：</a:t>
            </a:r>
            <a:r>
              <a:rPr lang="zh-TW" dirty="0"/>
              <a:t>這台機器已經內建三個紀律性的習慣——自己知道下一件該做什麼、做太久會自動喊停回報進度、同一件事連續卡住幾次會主動舉手回報需要人判斷。這三個習慣在我們系統裡都真的測試過：順利完成會怎麼留紀錄、卡住會怎麼升級回報，兩種情況都驗證過不只一次。接上各自的 AI CLI 就是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我不是要大家明天都去架那張圖。分層：還在一問一答的先學交辦四句；會交辦的讓它自驗；想更前的補欄杆敢放手。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收束點，語速放慢。真正該練的不是把 AI 用得花俏，是把話講清楚、把成果驗收好。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回頭看你手上那些一件一件慢慢盯的事——很多可以整包交辦。這只是我一點觀察，一起補。謝謝。冷場用 Q1 破冰。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這頁是 4.0 的一句話版本，跟 1.0/2.0/3.0 同一個節奏：先給大白話，再展開細節。核心差異只有一個——3.0 是「交辦一次，它做完這一件」；4.0 是「交辦一次，它自己一路做完一整輪」，中間不用你每一件都下指令。下一頁就是把「一路做完一整輪」拆開看，裡面長什麼樣子、怎麼保證不會跑歪。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914400"/>
            <a:ext cx="4937760" cy="4937760"/>
          </a:xfrm>
          <a:prstGeom prst="ellipse">
            <a:avLst/>
          </a:prstGeom>
          <a:solidFill>
            <a:srgbClr val="0E1726"/>
          </a:solidFill>
          <a:ln w="19050">
            <a:solidFill>
              <a:srgbClr val="2A3A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9509760" y="1828800"/>
            <a:ext cx="3108960" cy="3108960"/>
          </a:xfrm>
          <a:prstGeom prst="ellipse">
            <a:avLst/>
          </a:prstGeom>
          <a:solidFill>
            <a:srgbClr val="0E1726"/>
          </a:solidFill>
          <a:ln w="19050">
            <a:solidFill>
              <a:srgbClr val="2440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0515600" y="2834640"/>
            <a:ext cx="1097280" cy="10972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用法 · 知識分享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用法，你在第幾代？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從「問 AI」到「交辦 AI」——一起往上升一級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5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系統架構組 李泰益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先講一件糗事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我以為我在用 AI，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其實我在當監工。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核心命題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用法是有「世代」的。</a:t>
            </a:r>
            <a:endParaRPr lang="en-US" sz="3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而我們大多數人，還停在第 2 代。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用法的四個世代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一代比一代省力，你在第幾代？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問答機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很強的 Google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我問、它答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39312" y="22860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E2C49"/>
          </a:solidFill>
          <a:ln w="25400">
            <a:solidFill>
              <a:srgbClr val="F5B841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822192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822192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22192" y="3977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zh-TW" alt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</a:t>
            </a:r>
            <a:r>
              <a:rPr lang="en-US" sz="1400" dirty="0" err="1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問得好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事情還你做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22192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← 我們在這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01384" y="22860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684264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684264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交辦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84264" y="3977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它自己做完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你只驗收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363456" y="22860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546336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546336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自主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546336" y="3977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它自己一路跑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出大事才找你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2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737360" y="15544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問答機時代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3566160"/>
            <a:ext cx="10607040" cy="1097280"/>
          </a:xfrm>
          <a:prstGeom prst="roundRect">
            <a:avLst>
              <a:gd name="adj" fmla="val 8333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" y="3566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AI 當「一台會講話的 Google」——我問、它答，事情還是我自己做。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2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737360" y="15544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提示詞時代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3736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← 我們大多在這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10607040" cy="1097280"/>
          </a:xfrm>
          <a:prstGeom prst="roundRect">
            <a:avLst>
              <a:gd name="adj" fmla="val 8333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51560" y="3566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拚命研究「怎麼問」，</a:t>
            </a:r>
            <a:r>
              <a:rPr lang="en-US" sz="2000" dirty="0" err="1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提示詞越寫越長。答案變好了，但</a:t>
            </a:r>
            <a:r>
              <a:rPr lang="en-US" altLang="zh-TW" sz="20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……</a:t>
            </a:r>
            <a:r>
              <a:rPr lang="en-US" sz="2000" dirty="0" err="1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做事的還是你</a:t>
            </a:r>
            <a:r>
              <a:rPr lang="en-US" sz="20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關鍵一刀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升級的關鍵：不是「更會問」，是「學會交辦」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" y="2514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2.0 提示詞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32004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拿回一段「答案」，你再自己去做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1E2C49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3.0 交辦　🦞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92240" y="32004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就像剛學會伸爪的龍蝦——自己動手抓，你只驗收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5029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差別不在話講得多漂亮，在「它有沒有真的動手做、有沒有被機制驗過」。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3.0 交辦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交辦公式：一次講清楚四句話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10607040" cy="841248"/>
          </a:xfrm>
          <a:prstGeom prst="roundRect">
            <a:avLst>
              <a:gd name="adj" fmla="val 1087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我要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89120" y="2148840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目標——一句話講清楚要什麼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081528"/>
            <a:ext cx="10607040" cy="841248"/>
          </a:xfrm>
          <a:prstGeom prst="roundRect">
            <a:avLst>
              <a:gd name="adj" fmla="val 1087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005840" y="3081528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28800" y="308152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389120" y="3081528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邊界——哪些不要動、不要自作主張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4014216"/>
            <a:ext cx="10607040" cy="841248"/>
          </a:xfrm>
          <a:prstGeom prst="roundRect">
            <a:avLst>
              <a:gd name="adj" fmla="val 1087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014216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28800" y="4014216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怎樣算對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389120" y="4014216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驗收——做成什麼樣才算完成（最關鍵）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946904"/>
            <a:ext cx="10607040" cy="841248"/>
          </a:xfrm>
          <a:prstGeom prst="roundRect">
            <a:avLst>
              <a:gd name="adj" fmla="val 1087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4946904"/>
            <a:ext cx="731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828800" y="4946904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自己先驗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389120" y="4946904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做完照上面對一遍，有問題自己改，再拿給我</a:t>
            </a:r>
            <a:endParaRPr lang="en-US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777240" y="601675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i="1">
                <a:solidFill>
                  <a:srgbClr val="2DD4BF"/>
                </a:solidFill>
                <a:latin typeface="Microsoft JhengHei"/>
              </a:rPr>
              <a:t>這頁請拍照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把公式套進真實工作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案例：客戶丟來一長串需求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074920" cy="3108960"/>
          </a:xfrm>
          <a:prstGeom prst="roundRect">
            <a:avLst>
              <a:gd name="adj" fmla="val 3529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" y="2423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B8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老做法（2.0）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一條一條貼給 AI 問，重複二十幾遍——你是客戶跟 AI 中間那條「人肉輸送帶」。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074920" cy="3108960"/>
          </a:xfrm>
          <a:prstGeom prst="roundRect">
            <a:avLst>
              <a:gd name="adj" fmla="val 3529"/>
            </a:avLst>
          </a:prstGeom>
          <a:solidFill>
            <a:srgbClr val="1E2C49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492240" y="2423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新做法（3.0）一次交辦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3108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我要：把 20 幾條需求整理好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別碰：不要自己答應交期或價格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怎樣算對：分三類、可做的估工時、做成一張表</a:t>
            </a:r>
            <a:endParaRPr lang="en-US" sz="15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自己先驗：每條寫理由、對過再給我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你把「需求」換成巡檢結果、主機清單、週報，一樣好用。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Microsoft JhengHei"/>
              </a:rPr>
              <a:t>誠實補充</a:t>
            </a:r>
          </a:p>
        </p:txBody>
      </p:sp>
      <p:sp>
        <p:nvSpPr>
          <p:cNvPr id="3" name="Oval 2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AF1FA"/>
                </a:solidFill>
                <a:latin typeface="Microsoft JhengHei"/>
              </a:rPr>
              <a:t>3.0 已經會伸爪，但還是隻年輕龍蝦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3413760" cy="2600000"/>
          </a:xfrm>
          <a:prstGeom prst="roundRect">
            <a:avLst>
              <a:gd name="adj" fmla="val 4800"/>
            </a:avLst>
          </a:prstGeom>
          <a:solidFill>
            <a:srgbClr val="18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3139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2DD4BF"/>
                </a:solidFill>
                <a:latin typeface="Microsoft JhengHei"/>
              </a:rPr>
              <a:t>🦾 會伸手了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139440" cy="168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4A6C2"/>
                </a:solidFill>
                <a:latin typeface="Microsoft JhengHei"/>
              </a:rPr>
              <a:t>不是紙上談兵，它真的
會自己動手做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3880" y="2194560"/>
            <a:ext cx="3413760" cy="2600000"/>
          </a:xfrm>
          <a:prstGeom prst="roundRect">
            <a:avLst>
              <a:gd name="adj" fmla="val 4800"/>
            </a:avLst>
          </a:prstGeom>
          <a:solidFill>
            <a:srgbClr val="18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1040" y="2423160"/>
            <a:ext cx="3139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2DD4BF"/>
                </a:solidFill>
                <a:latin typeface="Microsoft JhengHei"/>
              </a:rPr>
              <a:t>⛽ 要餵好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1040" y="2926080"/>
            <a:ext cx="3139440" cy="168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4A6C2"/>
                </a:solidFill>
                <a:latin typeface="Microsoft JhengHei"/>
              </a:rPr>
              <a:t>爪伸得出去，抓不抓得住
看你餵的資源好不好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0520" y="2194560"/>
            <a:ext cx="3413760" cy="2600000"/>
          </a:xfrm>
          <a:prstGeom prst="roundRect">
            <a:avLst>
              <a:gd name="adj" fmla="val 4800"/>
            </a:avLst>
          </a:prstGeom>
          <a:solidFill>
            <a:srgbClr val="18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07680" y="2423160"/>
            <a:ext cx="3139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2DD4BF"/>
                </a:solidFill>
                <a:latin typeface="Microsoft JhengHei"/>
              </a:rPr>
              <a:t>🔧 要一直顧著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7680" y="2926080"/>
            <a:ext cx="3139440" cy="168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4A6C2"/>
                </a:solidFill>
                <a:latin typeface="Microsoft JhengHei"/>
              </a:rPr>
              <a:t>不是裝了就沒事，跑歪了
要有人維護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2DD4BF"/>
                </a:solidFill>
                <a:latin typeface="Microsoft JhengHei"/>
              </a:rPr>
              <a:t>牠已經會伸手抓東西了，但還是隻需要人顧的年輕龍蝦，
不是放著不管、自己會長大的全自動系統。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4.0 自主：交辦一次，它自己跑一整輪</a:t>
            </a:r>
            <a:endParaRPr lang="en-US" sz="2200" dirty="0"/>
          </a:p>
        </p:txBody>
      </p:sp>
      <p:pic>
        <p:nvPicPr>
          <p:cNvPr id="3" name="Image 0" descr="C:/Users/User/OneDrive/2025 Data/AI LAB/CL_FEE/PPT/圖/AI用法_4.0流程圖_橫式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704" y="960120"/>
            <a:ext cx="10058400" cy="566013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7C544E2-709D-B9DD-EC8C-73E62B5339E3}"/>
              </a:ext>
            </a:extLst>
          </p:cNvPr>
          <p:cNvSpPr/>
          <p:nvPr/>
        </p:nvSpPr>
        <p:spPr>
          <a:xfrm>
            <a:off x="3648891" y="2220686"/>
            <a:ext cx="1193075" cy="339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100" dirty="0">
                <a:solidFill>
                  <a:srgbClr val="FF0000"/>
                </a:solidFill>
              </a:rPr>
              <a:t>decisions.json</a:t>
            </a:r>
            <a:endParaRPr lang="zh-TW" altLang="en-US" sz="1100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DBF52C-2128-610A-8BE8-DB4C49A41AC4}"/>
              </a:ext>
            </a:extLst>
          </p:cNvPr>
          <p:cNvSpPr/>
          <p:nvPr/>
        </p:nvSpPr>
        <p:spPr>
          <a:xfrm>
            <a:off x="8961120" y="2142308"/>
            <a:ext cx="1193075" cy="339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rgbClr val="FF0000"/>
                </a:solidFill>
              </a:rPr>
              <a:t>Loop.py</a:t>
            </a:r>
            <a:endParaRPr lang="zh-TW" altLang="en-US" sz="1100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F9460E-AB1A-D1FC-3BC7-55C138E7C2E1}"/>
              </a:ext>
            </a:extLst>
          </p:cNvPr>
          <p:cNvSpPr/>
          <p:nvPr/>
        </p:nvSpPr>
        <p:spPr>
          <a:xfrm>
            <a:off x="6833615" y="2142308"/>
            <a:ext cx="1193075" cy="339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rgbClr val="FF0000"/>
                </a:solidFill>
              </a:rPr>
              <a:t>Loop.py</a:t>
            </a:r>
            <a:endParaRPr lang="zh-TW" altLang="en-US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這不是講講而已——我們的費用系統就是這樣做的</a:t>
            </a:r>
            <a:endParaRPr lang="en-US" sz="2200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359ADE4-0A9B-DA06-8FC5-00F5CFD0861C}"/>
              </a:ext>
            </a:extLst>
          </p:cNvPr>
          <p:cNvSpPr/>
          <p:nvPr/>
        </p:nvSpPr>
        <p:spPr>
          <a:xfrm>
            <a:off x="601789" y="894391"/>
            <a:ext cx="11232261" cy="3800158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8855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7692AD1-5FEF-A267-4D3D-42A15249824A}"/>
              </a:ext>
            </a:extLst>
          </p:cNvPr>
          <p:cNvSpPr txBox="1"/>
          <p:nvPr/>
        </p:nvSpPr>
        <p:spPr>
          <a:xfrm>
            <a:off x="687514" y="931385"/>
            <a:ext cx="4460869" cy="339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575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sym typeface="微軟正黑體"/>
                <a:rtl val="0"/>
              </a:rPr>
              <a:t>我們的真實進度：引擎已驗證，接上</a:t>
            </a:r>
            <a:r>
              <a:rPr lang="zh-TW" altLang="en-US" sz="1575" b="1" spc="0" baseline="0">
                <a:ln/>
                <a:solidFill>
                  <a:srgbClr val="0F172A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 AI CLI </a:t>
            </a:r>
            <a:r>
              <a:rPr lang="zh-TW" altLang="en-US" sz="1575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就是</a:t>
            </a:r>
            <a:r>
              <a:rPr lang="zh-TW" altLang="en-US" sz="1575" b="1" spc="0" baseline="0">
                <a:ln/>
                <a:solidFill>
                  <a:srgbClr val="0F172A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 4.0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35B4778-5059-7B35-AF95-0E349DCA7540}"/>
              </a:ext>
            </a:extLst>
          </p:cNvPr>
          <p:cNvSpPr txBox="1"/>
          <p:nvPr/>
        </p:nvSpPr>
        <p:spPr>
          <a:xfrm>
            <a:off x="687514" y="1194238"/>
            <a:ext cx="5480113" cy="244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75" spc="0" baseline="0">
                <a:ln/>
                <a:solidFill>
                  <a:srgbClr val="475569"/>
                </a:solidFill>
                <a:latin typeface="微軟正黑體"/>
                <a:ea typeface="微軟正黑體"/>
                <a:sym typeface="微軟正黑體"/>
                <a:rtl val="0"/>
              </a:rPr>
              <a:t>這套費用系統就是這樣做的。上面白話你講，下面小灰字是「證據」（真實檔案），放著就好、不用念。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55B0CD5-0047-2979-8F58-A61C80D2C4AA}"/>
              </a:ext>
            </a:extLst>
          </p:cNvPr>
          <p:cNvSpPr/>
          <p:nvPr/>
        </p:nvSpPr>
        <p:spPr>
          <a:xfrm>
            <a:off x="725805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CD261B1-47A1-15F2-77CB-25F3E2BC6204}"/>
              </a:ext>
            </a:extLst>
          </p:cNvPr>
          <p:cNvSpPr txBox="1"/>
          <p:nvPr/>
        </p:nvSpPr>
        <p:spPr>
          <a:xfrm>
            <a:off x="740664" y="1547850"/>
            <a:ext cx="747366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①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拆待辦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E23EB7D-4073-6329-29CD-AC7D06FD3623}"/>
              </a:ext>
            </a:extLst>
          </p:cNvPr>
          <p:cNvSpPr txBox="1"/>
          <p:nvPr/>
        </p:nvSpPr>
        <p:spPr>
          <a:xfrm>
            <a:off x="740664" y="1779474"/>
            <a:ext cx="1033272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把「做一套系統」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DE734CA-E98B-0399-1795-0C05E447DEE2}"/>
              </a:ext>
            </a:extLst>
          </p:cNvPr>
          <p:cNvSpPr txBox="1"/>
          <p:nvPr/>
        </p:nvSpPr>
        <p:spPr>
          <a:xfrm>
            <a:off x="740664" y="1930044"/>
            <a:ext cx="1033272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拆成一件件小工作</a:t>
            </a:r>
          </a:p>
        </p:txBody>
      </p:sp>
      <p:sp>
        <p:nvSpPr>
          <p:cNvPr id="13" name="手繪多邊形: 圖案 12">
            <a:extLst>
              <a:ext uri="{FF2B5EF4-FFF2-40B4-BE49-F238E27FC236}">
                <a16:creationId xmlns:a16="http://schemas.microsoft.com/office/drawing/2014/main" id="{A9C25472-1829-0221-FF27-E0A8A0ABD7EB}"/>
              </a:ext>
            </a:extLst>
          </p:cNvPr>
          <p:cNvSpPr/>
          <p:nvPr/>
        </p:nvSpPr>
        <p:spPr>
          <a:xfrm>
            <a:off x="832104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7E4770F-4332-5FE9-2B27-9BB0EDBF1D81}"/>
              </a:ext>
            </a:extLst>
          </p:cNvPr>
          <p:cNvSpPr txBox="1"/>
          <p:nvPr/>
        </p:nvSpPr>
        <p:spPr>
          <a:xfrm>
            <a:off x="740664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A61A314-C9EF-8155-5601-AB3E3FF7BEEB}"/>
              </a:ext>
            </a:extLst>
          </p:cNvPr>
          <p:cNvSpPr txBox="1"/>
          <p:nvPr/>
        </p:nvSpPr>
        <p:spPr>
          <a:xfrm>
            <a:off x="988695" y="2746904"/>
            <a:ext cx="980122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sym typeface="微軟正黑體"/>
                <a:rtl val="0"/>
              </a:rPr>
              <a:t>待辦清單（八大功能）</a:t>
            </a:r>
          </a:p>
        </p:txBody>
      </p:sp>
      <p:sp>
        <p:nvSpPr>
          <p:cNvPr id="16" name="手繪多邊形: 圖案 15">
            <a:extLst>
              <a:ext uri="{FF2B5EF4-FFF2-40B4-BE49-F238E27FC236}">
                <a16:creationId xmlns:a16="http://schemas.microsoft.com/office/drawing/2014/main" id="{281C4CA8-4A47-4474-53E4-30135D184188}"/>
              </a:ext>
            </a:extLst>
          </p:cNvPr>
          <p:cNvSpPr/>
          <p:nvPr/>
        </p:nvSpPr>
        <p:spPr>
          <a:xfrm>
            <a:off x="2231707" y="2293804"/>
            <a:ext cx="53149" cy="8857"/>
          </a:xfrm>
          <a:custGeom>
            <a:avLst/>
            <a:gdLst>
              <a:gd name="csX0" fmla="*/ 0 w 53149"/>
              <a:gd name="csY0" fmla="*/ 0 h 8857"/>
              <a:gd name="csX1" fmla="*/ 53150 w 53149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3149" h="8857">
                <a:moveTo>
                  <a:pt x="0" y="0"/>
                </a:moveTo>
                <a:lnTo>
                  <a:pt x="53150" y="0"/>
                </a:lnTo>
              </a:path>
            </a:pathLst>
          </a:custGeom>
          <a:noFill/>
          <a:ln w="14168" cap="flat">
            <a:solidFill>
              <a:srgbClr val="94A3B8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43ED7EA6-AB35-5114-7CB3-A0DD56B6CC6A}"/>
              </a:ext>
            </a:extLst>
          </p:cNvPr>
          <p:cNvSpPr/>
          <p:nvPr/>
        </p:nvSpPr>
        <p:spPr>
          <a:xfrm>
            <a:off x="2302573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B7F1B58-AB77-4D15-F0E6-E38415176CA5}"/>
              </a:ext>
            </a:extLst>
          </p:cNvPr>
          <p:cNvSpPr txBox="1"/>
          <p:nvPr/>
        </p:nvSpPr>
        <p:spPr>
          <a:xfrm>
            <a:off x="2317432" y="1547850"/>
            <a:ext cx="747366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②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看現況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8E2D2D4-08DB-5282-97DF-BC72EC7C0300}"/>
              </a:ext>
            </a:extLst>
          </p:cNvPr>
          <p:cNvSpPr txBox="1"/>
          <p:nvPr/>
        </p:nvSpPr>
        <p:spPr>
          <a:xfrm>
            <a:off x="2317432" y="1779474"/>
            <a:ext cx="1033272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先看現在做到哪、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17A944E-40D6-3535-58BD-A8407C5A52D8}"/>
              </a:ext>
            </a:extLst>
          </p:cNvPr>
          <p:cNvSpPr txBox="1"/>
          <p:nvPr/>
        </p:nvSpPr>
        <p:spPr>
          <a:xfrm>
            <a:off x="2317432" y="1930044"/>
            <a:ext cx="926973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複習之前的決定</a:t>
            </a:r>
          </a:p>
        </p:txBody>
      </p:sp>
      <p:sp>
        <p:nvSpPr>
          <p:cNvPr id="21" name="手繪多邊形: 圖案 20">
            <a:extLst>
              <a:ext uri="{FF2B5EF4-FFF2-40B4-BE49-F238E27FC236}">
                <a16:creationId xmlns:a16="http://schemas.microsoft.com/office/drawing/2014/main" id="{61FDA50E-1A16-D9C7-58B2-5EC8E93DEB08}"/>
              </a:ext>
            </a:extLst>
          </p:cNvPr>
          <p:cNvSpPr/>
          <p:nvPr/>
        </p:nvSpPr>
        <p:spPr>
          <a:xfrm>
            <a:off x="2408872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B4764D3-2287-02E6-7FAE-E550B43F313E}"/>
              </a:ext>
            </a:extLst>
          </p:cNvPr>
          <p:cNvSpPr txBox="1"/>
          <p:nvPr/>
        </p:nvSpPr>
        <p:spPr>
          <a:xfrm>
            <a:off x="2317432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B23D171-85F9-2F71-187F-71B9D1BCA06C}"/>
              </a:ext>
            </a:extLst>
          </p:cNvPr>
          <p:cNvSpPr txBox="1"/>
          <p:nvPr/>
        </p:nvSpPr>
        <p:spPr>
          <a:xfrm>
            <a:off x="2565463" y="2746631"/>
            <a:ext cx="1151521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snapshot→CURRENT_STATE</a:t>
            </a:r>
          </a:p>
        </p:txBody>
      </p:sp>
      <p:sp>
        <p:nvSpPr>
          <p:cNvPr id="24" name="手繪多邊形: 圖案 23">
            <a:extLst>
              <a:ext uri="{FF2B5EF4-FFF2-40B4-BE49-F238E27FC236}">
                <a16:creationId xmlns:a16="http://schemas.microsoft.com/office/drawing/2014/main" id="{2BD85AD6-69AC-1EF0-9568-F383B51319B2}"/>
              </a:ext>
            </a:extLst>
          </p:cNvPr>
          <p:cNvSpPr/>
          <p:nvPr/>
        </p:nvSpPr>
        <p:spPr>
          <a:xfrm>
            <a:off x="3808476" y="2293804"/>
            <a:ext cx="53149" cy="8857"/>
          </a:xfrm>
          <a:custGeom>
            <a:avLst/>
            <a:gdLst>
              <a:gd name="csX0" fmla="*/ 0 w 53149"/>
              <a:gd name="csY0" fmla="*/ 0 h 8857"/>
              <a:gd name="csX1" fmla="*/ 53150 w 53149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3149" h="8857">
                <a:moveTo>
                  <a:pt x="0" y="0"/>
                </a:moveTo>
                <a:lnTo>
                  <a:pt x="53150" y="0"/>
                </a:lnTo>
              </a:path>
            </a:pathLst>
          </a:custGeom>
          <a:noFill/>
          <a:ln w="14168" cap="flat">
            <a:solidFill>
              <a:srgbClr val="94A3B8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A4A574CE-37AE-B97A-177B-D8E358020AD0}"/>
              </a:ext>
            </a:extLst>
          </p:cNvPr>
          <p:cNvSpPr/>
          <p:nvPr/>
        </p:nvSpPr>
        <p:spPr>
          <a:xfrm>
            <a:off x="3879342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34FCB85-6A95-0247-CE79-BF55520D91F0}"/>
              </a:ext>
            </a:extLst>
          </p:cNvPr>
          <p:cNvSpPr txBox="1"/>
          <p:nvPr/>
        </p:nvSpPr>
        <p:spPr>
          <a:xfrm>
            <a:off x="3894201" y="1547850"/>
            <a:ext cx="871381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③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做這一塊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5E29E42-25D2-38A9-A234-E7FC5ECFF615}"/>
              </a:ext>
            </a:extLst>
          </p:cNvPr>
          <p:cNvSpPr txBox="1"/>
          <p:nvPr/>
        </p:nvSpPr>
        <p:spPr>
          <a:xfrm>
            <a:off x="3894201" y="1779474"/>
            <a:ext cx="1033272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挑一件來做，例如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893313E-7C33-ADD3-CBBD-8B12A5B61148}"/>
              </a:ext>
            </a:extLst>
          </p:cNvPr>
          <p:cNvSpPr txBox="1"/>
          <p:nvPr/>
        </p:nvSpPr>
        <p:spPr>
          <a:xfrm>
            <a:off x="3894201" y="1930044"/>
            <a:ext cx="1139571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合約快到期自動提醒</a:t>
            </a:r>
          </a:p>
        </p:txBody>
      </p:sp>
      <p:sp>
        <p:nvSpPr>
          <p:cNvPr id="29" name="手繪多邊形: 圖案 28">
            <a:extLst>
              <a:ext uri="{FF2B5EF4-FFF2-40B4-BE49-F238E27FC236}">
                <a16:creationId xmlns:a16="http://schemas.microsoft.com/office/drawing/2014/main" id="{A008104B-7322-1AB6-AAB4-3A9C4C45E6CC}"/>
              </a:ext>
            </a:extLst>
          </p:cNvPr>
          <p:cNvSpPr/>
          <p:nvPr/>
        </p:nvSpPr>
        <p:spPr>
          <a:xfrm>
            <a:off x="3985641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3D07E0E-3541-57D6-2C1A-C63384904BB6}"/>
              </a:ext>
            </a:extLst>
          </p:cNvPr>
          <p:cNvSpPr txBox="1"/>
          <p:nvPr/>
        </p:nvSpPr>
        <p:spPr>
          <a:xfrm>
            <a:off x="3894201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4DBE522-6011-8734-AF34-6EF794EB5ABF}"/>
              </a:ext>
            </a:extLst>
          </p:cNvPr>
          <p:cNvSpPr txBox="1"/>
          <p:nvPr/>
        </p:nvSpPr>
        <p:spPr>
          <a:xfrm>
            <a:off x="4142232" y="2746631"/>
            <a:ext cx="863650" cy="197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sym typeface="微軟正黑體"/>
                <a:rtl val="0"/>
              </a:rPr>
              <a:t>需求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5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「逾期催辦」</a:t>
            </a:r>
          </a:p>
        </p:txBody>
      </p:sp>
      <p:sp>
        <p:nvSpPr>
          <p:cNvPr id="32" name="手繪多邊形: 圖案 31">
            <a:extLst>
              <a:ext uri="{FF2B5EF4-FFF2-40B4-BE49-F238E27FC236}">
                <a16:creationId xmlns:a16="http://schemas.microsoft.com/office/drawing/2014/main" id="{FBAB270D-776D-4A6E-7A80-90EA090A713B}"/>
              </a:ext>
            </a:extLst>
          </p:cNvPr>
          <p:cNvSpPr/>
          <p:nvPr/>
        </p:nvSpPr>
        <p:spPr>
          <a:xfrm>
            <a:off x="5385244" y="2293804"/>
            <a:ext cx="53149" cy="8857"/>
          </a:xfrm>
          <a:custGeom>
            <a:avLst/>
            <a:gdLst>
              <a:gd name="csX0" fmla="*/ 0 w 53149"/>
              <a:gd name="csY0" fmla="*/ 0 h 8857"/>
              <a:gd name="csX1" fmla="*/ 53150 w 53149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3149" h="8857">
                <a:moveTo>
                  <a:pt x="0" y="0"/>
                </a:moveTo>
                <a:lnTo>
                  <a:pt x="53150" y="0"/>
                </a:lnTo>
              </a:path>
            </a:pathLst>
          </a:custGeom>
          <a:noFill/>
          <a:ln w="14168" cap="flat">
            <a:solidFill>
              <a:srgbClr val="94A3B8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1B5B170E-55BF-0C3B-2F1D-E205DB3F47B7}"/>
              </a:ext>
            </a:extLst>
          </p:cNvPr>
          <p:cNvSpPr/>
          <p:nvPr/>
        </p:nvSpPr>
        <p:spPr>
          <a:xfrm>
            <a:off x="5456110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45DF7E7-D6E4-9721-C6C1-5553D5CDE0DE}"/>
              </a:ext>
            </a:extLst>
          </p:cNvPr>
          <p:cNvSpPr txBox="1"/>
          <p:nvPr/>
        </p:nvSpPr>
        <p:spPr>
          <a:xfrm>
            <a:off x="5470969" y="1547850"/>
            <a:ext cx="747366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④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過關卡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37A4DA6D-740C-8B68-B50B-59A33910869F}"/>
              </a:ext>
            </a:extLst>
          </p:cNvPr>
          <p:cNvSpPr txBox="1"/>
          <p:nvPr/>
        </p:nvSpPr>
        <p:spPr>
          <a:xfrm>
            <a:off x="5470969" y="1779474"/>
            <a:ext cx="926973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做完自動檢查：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2AFFF461-D4D3-D86F-106A-4572930C9346}"/>
              </a:ext>
            </a:extLst>
          </p:cNvPr>
          <p:cNvSpPr txBox="1"/>
          <p:nvPr/>
        </p:nvSpPr>
        <p:spPr>
          <a:xfrm>
            <a:off x="5470969" y="1930044"/>
            <a:ext cx="1139571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沒漏密碼、功能沒壞</a:t>
            </a:r>
          </a:p>
        </p:txBody>
      </p:sp>
      <p:sp>
        <p:nvSpPr>
          <p:cNvPr id="37" name="手繪多邊形: 圖案 36">
            <a:extLst>
              <a:ext uri="{FF2B5EF4-FFF2-40B4-BE49-F238E27FC236}">
                <a16:creationId xmlns:a16="http://schemas.microsoft.com/office/drawing/2014/main" id="{2B4BA8E1-0696-525D-FC2D-C2F2F9427DC2}"/>
              </a:ext>
            </a:extLst>
          </p:cNvPr>
          <p:cNvSpPr/>
          <p:nvPr/>
        </p:nvSpPr>
        <p:spPr>
          <a:xfrm>
            <a:off x="5562409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8F232F5F-ABB2-78A7-D467-9A1B673FB3BC}"/>
              </a:ext>
            </a:extLst>
          </p:cNvPr>
          <p:cNvSpPr txBox="1"/>
          <p:nvPr/>
        </p:nvSpPr>
        <p:spPr>
          <a:xfrm>
            <a:off x="5470969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7E00227C-B4D0-6E07-8EDA-3C7BBB6CFA50}"/>
              </a:ext>
            </a:extLst>
          </p:cNvPr>
          <p:cNvSpPr txBox="1"/>
          <p:nvPr/>
        </p:nvSpPr>
        <p:spPr>
          <a:xfrm>
            <a:off x="5719000" y="2746631"/>
            <a:ext cx="954585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checks + pytest + e2e</a:t>
            </a:r>
          </a:p>
        </p:txBody>
      </p:sp>
      <p:sp>
        <p:nvSpPr>
          <p:cNvPr id="40" name="手繪多邊形: 圖案 39">
            <a:extLst>
              <a:ext uri="{FF2B5EF4-FFF2-40B4-BE49-F238E27FC236}">
                <a16:creationId xmlns:a16="http://schemas.microsoft.com/office/drawing/2014/main" id="{C6D94F54-B759-A728-E776-982EF2FEB068}"/>
              </a:ext>
            </a:extLst>
          </p:cNvPr>
          <p:cNvSpPr/>
          <p:nvPr/>
        </p:nvSpPr>
        <p:spPr>
          <a:xfrm>
            <a:off x="6962013" y="2293804"/>
            <a:ext cx="53149" cy="8857"/>
          </a:xfrm>
          <a:custGeom>
            <a:avLst/>
            <a:gdLst>
              <a:gd name="csX0" fmla="*/ 0 w 53149"/>
              <a:gd name="csY0" fmla="*/ 0 h 8857"/>
              <a:gd name="csX1" fmla="*/ 53150 w 53149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3149" h="8857">
                <a:moveTo>
                  <a:pt x="0" y="0"/>
                </a:moveTo>
                <a:lnTo>
                  <a:pt x="53150" y="0"/>
                </a:lnTo>
              </a:path>
            </a:pathLst>
          </a:custGeom>
          <a:noFill/>
          <a:ln w="14168" cap="flat">
            <a:solidFill>
              <a:srgbClr val="94A3B8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D51E402E-2D61-DDF7-665B-8711D4D1932F}"/>
              </a:ext>
            </a:extLst>
          </p:cNvPr>
          <p:cNvSpPr/>
          <p:nvPr/>
        </p:nvSpPr>
        <p:spPr>
          <a:xfrm>
            <a:off x="7032879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FF67E0C-DF3D-2831-818B-4DDC5E880460}"/>
              </a:ext>
            </a:extLst>
          </p:cNvPr>
          <p:cNvSpPr txBox="1"/>
          <p:nvPr/>
        </p:nvSpPr>
        <p:spPr>
          <a:xfrm>
            <a:off x="7047738" y="1547850"/>
            <a:ext cx="623350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⑤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存檔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6007E833-3198-B394-2FB5-3B9646D96EFA}"/>
              </a:ext>
            </a:extLst>
          </p:cNvPr>
          <p:cNvSpPr txBox="1"/>
          <p:nvPr/>
        </p:nvSpPr>
        <p:spPr>
          <a:xfrm>
            <a:off x="7047738" y="1779474"/>
            <a:ext cx="1033272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過了就存檔，寫一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C18F30E7-56A8-2A27-E459-B23C159E006B}"/>
              </a:ext>
            </a:extLst>
          </p:cNvPr>
          <p:cNvSpPr txBox="1"/>
          <p:nvPr/>
        </p:nvSpPr>
        <p:spPr>
          <a:xfrm>
            <a:off x="7047738" y="1930044"/>
            <a:ext cx="1033272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句話記下做了什麼</a:t>
            </a:r>
          </a:p>
        </p:txBody>
      </p:sp>
      <p:sp>
        <p:nvSpPr>
          <p:cNvPr id="45" name="手繪多邊形: 圖案 44">
            <a:extLst>
              <a:ext uri="{FF2B5EF4-FFF2-40B4-BE49-F238E27FC236}">
                <a16:creationId xmlns:a16="http://schemas.microsoft.com/office/drawing/2014/main" id="{864E4841-5519-AF4A-DEFB-2E8879770FF6}"/>
              </a:ext>
            </a:extLst>
          </p:cNvPr>
          <p:cNvSpPr/>
          <p:nvPr/>
        </p:nvSpPr>
        <p:spPr>
          <a:xfrm>
            <a:off x="7139178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2C5472A8-BA71-2187-152F-CCDE769CD679}"/>
              </a:ext>
            </a:extLst>
          </p:cNvPr>
          <p:cNvSpPr txBox="1"/>
          <p:nvPr/>
        </p:nvSpPr>
        <p:spPr>
          <a:xfrm>
            <a:off x="7047738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9ED60A10-6235-33E4-F507-E6CBF38F030D}"/>
              </a:ext>
            </a:extLst>
          </p:cNvPr>
          <p:cNvSpPr txBox="1"/>
          <p:nvPr/>
        </p:nvSpPr>
        <p:spPr>
          <a:xfrm>
            <a:off x="7295769" y="2746631"/>
            <a:ext cx="963811" cy="197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git commit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（＝軌跡）</a:t>
            </a:r>
          </a:p>
        </p:txBody>
      </p:sp>
      <p:sp>
        <p:nvSpPr>
          <p:cNvPr id="48" name="手繪多邊形: 圖案 47">
            <a:extLst>
              <a:ext uri="{FF2B5EF4-FFF2-40B4-BE49-F238E27FC236}">
                <a16:creationId xmlns:a16="http://schemas.microsoft.com/office/drawing/2014/main" id="{B0BD34BC-6BEF-B8D3-538B-151AE5E7578A}"/>
              </a:ext>
            </a:extLst>
          </p:cNvPr>
          <p:cNvSpPr/>
          <p:nvPr/>
        </p:nvSpPr>
        <p:spPr>
          <a:xfrm>
            <a:off x="8538781" y="2293804"/>
            <a:ext cx="53149" cy="8857"/>
          </a:xfrm>
          <a:custGeom>
            <a:avLst/>
            <a:gdLst>
              <a:gd name="csX0" fmla="*/ 0 w 53149"/>
              <a:gd name="csY0" fmla="*/ 0 h 8857"/>
              <a:gd name="csX1" fmla="*/ 53150 w 53149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3149" h="8857">
                <a:moveTo>
                  <a:pt x="0" y="0"/>
                </a:moveTo>
                <a:lnTo>
                  <a:pt x="53150" y="0"/>
                </a:lnTo>
              </a:path>
            </a:pathLst>
          </a:custGeom>
          <a:noFill/>
          <a:ln w="14168" cap="flat">
            <a:solidFill>
              <a:srgbClr val="94A3B8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53452A48-6B0B-6530-D78E-1DD8AFE5BA80}"/>
              </a:ext>
            </a:extLst>
          </p:cNvPr>
          <p:cNvSpPr/>
          <p:nvPr/>
        </p:nvSpPr>
        <p:spPr>
          <a:xfrm>
            <a:off x="8609647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9F7411B6-807B-1598-65AD-7A8405A0828A}"/>
              </a:ext>
            </a:extLst>
          </p:cNvPr>
          <p:cNvSpPr txBox="1"/>
          <p:nvPr/>
        </p:nvSpPr>
        <p:spPr>
          <a:xfrm>
            <a:off x="8624506" y="1547850"/>
            <a:ext cx="871381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⑥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抽查報告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4919A01-7314-688B-11B2-B36A43F18D77}"/>
              </a:ext>
            </a:extLst>
          </p:cNvPr>
          <p:cNvSpPr txBox="1"/>
          <p:nvPr/>
        </p:nvSpPr>
        <p:spPr>
          <a:xfrm>
            <a:off x="8624506" y="1779474"/>
            <a:ext cx="926973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它交一份報告，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EA1B19E-102C-4734-3EF9-4412476BB070}"/>
              </a:ext>
            </a:extLst>
          </p:cNvPr>
          <p:cNvSpPr txBox="1"/>
          <p:nvPr/>
        </p:nvSpPr>
        <p:spPr>
          <a:xfrm>
            <a:off x="8624506" y="1930044"/>
            <a:ext cx="926973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給你看做了什麼</a:t>
            </a:r>
          </a:p>
        </p:txBody>
      </p:sp>
      <p:sp>
        <p:nvSpPr>
          <p:cNvPr id="53" name="手繪多邊形: 圖案 52">
            <a:extLst>
              <a:ext uri="{FF2B5EF4-FFF2-40B4-BE49-F238E27FC236}">
                <a16:creationId xmlns:a16="http://schemas.microsoft.com/office/drawing/2014/main" id="{0E8D77DF-0529-D38D-3BB2-EC57FB315B1D}"/>
              </a:ext>
            </a:extLst>
          </p:cNvPr>
          <p:cNvSpPr/>
          <p:nvPr/>
        </p:nvSpPr>
        <p:spPr>
          <a:xfrm>
            <a:off x="8715946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8B5D42B5-3F83-BF18-3FBF-52DFD88D6EC1}"/>
              </a:ext>
            </a:extLst>
          </p:cNvPr>
          <p:cNvSpPr txBox="1"/>
          <p:nvPr/>
        </p:nvSpPr>
        <p:spPr>
          <a:xfrm>
            <a:off x="8624506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28AE5C65-5395-7080-1099-0744770467A0}"/>
              </a:ext>
            </a:extLst>
          </p:cNvPr>
          <p:cNvSpPr txBox="1"/>
          <p:nvPr/>
        </p:nvSpPr>
        <p:spPr>
          <a:xfrm>
            <a:off x="8872537" y="2746631"/>
            <a:ext cx="918966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agent_run_report.md</a:t>
            </a:r>
          </a:p>
        </p:txBody>
      </p:sp>
      <p:sp>
        <p:nvSpPr>
          <p:cNvPr id="56" name="手繪多邊形: 圖案 55">
            <a:extLst>
              <a:ext uri="{FF2B5EF4-FFF2-40B4-BE49-F238E27FC236}">
                <a16:creationId xmlns:a16="http://schemas.microsoft.com/office/drawing/2014/main" id="{9CF5679B-EE2C-D385-C34B-5BCE6298F7F9}"/>
              </a:ext>
            </a:extLst>
          </p:cNvPr>
          <p:cNvSpPr/>
          <p:nvPr/>
        </p:nvSpPr>
        <p:spPr>
          <a:xfrm>
            <a:off x="10115550" y="2293804"/>
            <a:ext cx="53149" cy="8857"/>
          </a:xfrm>
          <a:custGeom>
            <a:avLst/>
            <a:gdLst>
              <a:gd name="csX0" fmla="*/ 0 w 53149"/>
              <a:gd name="csY0" fmla="*/ 0 h 8857"/>
              <a:gd name="csX1" fmla="*/ 53150 w 53149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3149" h="8857">
                <a:moveTo>
                  <a:pt x="0" y="0"/>
                </a:moveTo>
                <a:lnTo>
                  <a:pt x="53150" y="0"/>
                </a:lnTo>
              </a:path>
            </a:pathLst>
          </a:custGeom>
          <a:noFill/>
          <a:ln w="14168" cap="flat">
            <a:solidFill>
              <a:srgbClr val="94A3B8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1288FBCF-3C0D-B88F-DD00-699790B45B0B}"/>
              </a:ext>
            </a:extLst>
          </p:cNvPr>
          <p:cNvSpPr/>
          <p:nvPr/>
        </p:nvSpPr>
        <p:spPr>
          <a:xfrm>
            <a:off x="10186416" y="1514384"/>
            <a:ext cx="1505902" cy="1558841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283" cap="flat">
            <a:solidFill>
              <a:srgbClr val="CBD5E1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CFE5EA96-8E28-076A-C830-481A3B71A492}"/>
              </a:ext>
            </a:extLst>
          </p:cNvPr>
          <p:cNvSpPr txBox="1"/>
          <p:nvPr/>
        </p:nvSpPr>
        <p:spPr>
          <a:xfrm>
            <a:off x="10201275" y="1547850"/>
            <a:ext cx="1119412" cy="256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Cambria Math"/>
                <a:sym typeface="Cambria Math"/>
                <a:rtl val="0"/>
              </a:rPr>
              <a:t>⑦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還有下一塊？</a:t>
            </a: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FEABCDA6-5892-0275-DBD7-9911700B393D}"/>
              </a:ext>
            </a:extLst>
          </p:cNvPr>
          <p:cNvSpPr txBox="1"/>
          <p:nvPr/>
        </p:nvSpPr>
        <p:spPr>
          <a:xfrm>
            <a:off x="10201275" y="1779474"/>
            <a:ext cx="714375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有就繼續做</a:t>
            </a: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DE6E1904-741E-CD88-96B1-31DB006A8DA6}"/>
              </a:ext>
            </a:extLst>
          </p:cNvPr>
          <p:cNvSpPr txBox="1"/>
          <p:nvPr/>
        </p:nvSpPr>
        <p:spPr>
          <a:xfrm>
            <a:off x="10201275" y="1930044"/>
            <a:ext cx="714375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下一個功能</a:t>
            </a:r>
          </a:p>
        </p:txBody>
      </p:sp>
      <p:sp>
        <p:nvSpPr>
          <p:cNvPr id="61" name="手繪多邊形: 圖案 60">
            <a:extLst>
              <a:ext uri="{FF2B5EF4-FFF2-40B4-BE49-F238E27FC236}">
                <a16:creationId xmlns:a16="http://schemas.microsoft.com/office/drawing/2014/main" id="{636C48EE-A95D-8881-06AD-35F8576A63EE}"/>
              </a:ext>
            </a:extLst>
          </p:cNvPr>
          <p:cNvSpPr/>
          <p:nvPr/>
        </p:nvSpPr>
        <p:spPr>
          <a:xfrm>
            <a:off x="10292715" y="2718943"/>
            <a:ext cx="1293304" cy="8857"/>
          </a:xfrm>
          <a:custGeom>
            <a:avLst/>
            <a:gdLst>
              <a:gd name="csX0" fmla="*/ 0 w 1293304"/>
              <a:gd name="csY0" fmla="*/ 0 h 8857"/>
              <a:gd name="csX1" fmla="*/ 1293305 w 1293304"/>
              <a:gd name="csY1" fmla="*/ 0 h 8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93304" h="8857">
                <a:moveTo>
                  <a:pt x="0" y="0"/>
                </a:moveTo>
                <a:lnTo>
                  <a:pt x="1293305" y="0"/>
                </a:lnTo>
              </a:path>
            </a:pathLst>
          </a:custGeom>
          <a:ln w="8855" cap="flat">
            <a:solidFill>
              <a:srgbClr val="EEF2F7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F829703C-A980-3E08-9010-49EBBB63670A}"/>
              </a:ext>
            </a:extLst>
          </p:cNvPr>
          <p:cNvSpPr txBox="1"/>
          <p:nvPr/>
        </p:nvSpPr>
        <p:spPr>
          <a:xfrm>
            <a:off x="10201275" y="2746904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BE561A3B-C48B-313C-508A-8232F14FA4FF}"/>
              </a:ext>
            </a:extLst>
          </p:cNvPr>
          <p:cNvSpPr txBox="1"/>
          <p:nvPr/>
        </p:nvSpPr>
        <p:spPr>
          <a:xfrm>
            <a:off x="10449306" y="2746904"/>
            <a:ext cx="820674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sym typeface="微軟正黑體"/>
                <a:rtl val="0"/>
              </a:rPr>
              <a:t>八大功能逐一完成</a:t>
            </a: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6656F328-EC96-E5D9-2570-2FBF33438A4C}"/>
              </a:ext>
            </a:extLst>
          </p:cNvPr>
          <p:cNvSpPr/>
          <p:nvPr/>
        </p:nvSpPr>
        <p:spPr>
          <a:xfrm>
            <a:off x="725805" y="3179510"/>
            <a:ext cx="6200775" cy="655422"/>
          </a:xfrm>
          <a:prstGeom prst="roundRect">
            <a:avLst>
              <a:gd name="adj" fmla="val 14866"/>
            </a:avLst>
          </a:prstGeom>
          <a:solidFill>
            <a:srgbClr val="F5F3FF"/>
          </a:solidFill>
          <a:ln w="17711" cap="flat">
            <a:solidFill>
              <a:srgbClr val="7C3AED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861F4B11-2B89-B2FF-EAE0-A355E2121D4D}"/>
              </a:ext>
            </a:extLst>
          </p:cNvPr>
          <p:cNvSpPr txBox="1"/>
          <p:nvPr/>
        </p:nvSpPr>
        <p:spPr>
          <a:xfrm>
            <a:off x="758380" y="3212552"/>
            <a:ext cx="2253268" cy="2567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Segoe UI Emoji"/>
                <a:sym typeface="Segoe UI Emoji"/>
                <a:rtl val="0"/>
              </a:rPr>
              <a:t>🙋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絆線：碰到不能亂來的，停下問人</a:t>
            </a: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C73F3DBE-201E-01F1-6BFC-4F9C2F39EE65}"/>
              </a:ext>
            </a:extLst>
          </p:cNvPr>
          <p:cNvSpPr txBox="1"/>
          <p:nvPr/>
        </p:nvSpPr>
        <p:spPr>
          <a:xfrm>
            <a:off x="758380" y="3409172"/>
            <a:ext cx="2239964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像錢、權限、要兩個人簽</a:t>
            </a:r>
            <a:r>
              <a:rPr lang="zh-TW" altLang="en-US" sz="863" spc="0" baseline="0">
                <a:ln/>
                <a:solidFill>
                  <a:srgbClr val="1E293B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 → </a:t>
            </a:r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先停手讓人拍板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6E5242B0-8F06-7F7C-6BB4-2DE7E74F28CE}"/>
              </a:ext>
            </a:extLst>
          </p:cNvPr>
          <p:cNvSpPr txBox="1"/>
          <p:nvPr/>
        </p:nvSpPr>
        <p:spPr>
          <a:xfrm>
            <a:off x="758380" y="3623752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7575C3FD-FDB5-7133-CA79-C9089005D276}"/>
              </a:ext>
            </a:extLst>
          </p:cNvPr>
          <p:cNvSpPr txBox="1"/>
          <p:nvPr/>
        </p:nvSpPr>
        <p:spPr>
          <a:xfrm>
            <a:off x="1006411" y="3623479"/>
            <a:ext cx="2090228" cy="197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sym typeface="微軟正黑體"/>
                <a:rtl val="0"/>
              </a:rPr>
              <a:t>雙人複核「不能自己核自己」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→ .project/decisions.json</a:t>
            </a:r>
          </a:p>
        </p:txBody>
      </p: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D4AE0A07-129A-698F-9182-C12D5AEBFE89}"/>
              </a:ext>
            </a:extLst>
          </p:cNvPr>
          <p:cNvSpPr/>
          <p:nvPr/>
        </p:nvSpPr>
        <p:spPr>
          <a:xfrm>
            <a:off x="7068312" y="3179510"/>
            <a:ext cx="4624006" cy="655422"/>
          </a:xfrm>
          <a:prstGeom prst="roundRect">
            <a:avLst>
              <a:gd name="adj" fmla="val 14866"/>
            </a:avLst>
          </a:prstGeom>
          <a:solidFill>
            <a:srgbClr val="F0FDF4"/>
          </a:solidFill>
          <a:ln w="19482" cap="flat">
            <a:solidFill>
              <a:srgbClr val="16A34A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021D4896-C693-851A-1537-31DAC82A2905}"/>
              </a:ext>
            </a:extLst>
          </p:cNvPr>
          <p:cNvSpPr txBox="1"/>
          <p:nvPr/>
        </p:nvSpPr>
        <p:spPr>
          <a:xfrm>
            <a:off x="7100887" y="3212552"/>
            <a:ext cx="1757206" cy="2567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050" b="1" spc="0" baseline="0">
                <a:ln/>
                <a:solidFill>
                  <a:srgbClr val="0F172A"/>
                </a:solidFill>
                <a:latin typeface="Segoe UI Emoji"/>
                <a:sym typeface="Segoe UI Emoji"/>
                <a:rtl val="0"/>
              </a:rPr>
              <a:t>✅</a:t>
            </a:r>
            <a:r>
              <a:rPr lang="zh-TW" altLang="en-US" sz="1013" b="1" spc="0" baseline="0">
                <a:ln/>
                <a:solidFill>
                  <a:srgbClr val="0F172A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1050" b="1" spc="0" baseline="0">
                <a:ln/>
                <a:solidFill>
                  <a:srgbClr val="0F172A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交付：真的做出來、上線</a:t>
            </a: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8C8FA808-63A0-31C9-7D1B-CD677709F9FC}"/>
              </a:ext>
            </a:extLst>
          </p:cNvPr>
          <p:cNvSpPr txBox="1"/>
          <p:nvPr/>
        </p:nvSpPr>
        <p:spPr>
          <a:xfrm>
            <a:off x="7100887" y="3409172"/>
            <a:ext cx="1352169" cy="23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00" spc="0" baseline="0">
                <a:ln/>
                <a:solidFill>
                  <a:srgbClr val="1E293B"/>
                </a:solidFill>
                <a:latin typeface="微軟正黑體"/>
                <a:ea typeface="微軟正黑體"/>
                <a:sym typeface="微軟正黑體"/>
                <a:rtl val="0"/>
              </a:rPr>
              <a:t>能跑、每關都過、有紀錄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66509233-B605-CB5D-7C42-E92C60E3CD40}"/>
              </a:ext>
            </a:extLst>
          </p:cNvPr>
          <p:cNvSpPr txBox="1"/>
          <p:nvPr/>
        </p:nvSpPr>
        <p:spPr>
          <a:xfrm>
            <a:off x="7100887" y="3623752"/>
            <a:ext cx="342328" cy="197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b="1" spc="0" baseline="0">
                <a:ln/>
                <a:solidFill>
                  <a:srgbClr val="0891B2"/>
                </a:solidFill>
                <a:latin typeface="微軟正黑體"/>
                <a:ea typeface="微軟正黑體"/>
                <a:sym typeface="微軟正黑體"/>
                <a:rtl val="0"/>
              </a:rPr>
              <a:t>證據</a:t>
            </a: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920BF300-B0C3-F6DF-E115-FDC61D491B57}"/>
              </a:ext>
            </a:extLst>
          </p:cNvPr>
          <p:cNvSpPr txBox="1"/>
          <p:nvPr/>
        </p:nvSpPr>
        <p:spPr>
          <a:xfrm>
            <a:off x="7348918" y="3623479"/>
            <a:ext cx="1641779" cy="1977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cs typeface="Segoe UI"/>
                <a:sym typeface="Segoe UI"/>
                <a:rtl val="0"/>
              </a:rPr>
              <a:t>pilot 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試上線（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docs/PILOT_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上線指引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.md</a:t>
            </a:r>
            <a:r>
              <a:rPr lang="zh-TW" altLang="en-US" sz="675" spc="0" baseline="0">
                <a:ln/>
                <a:solidFill>
                  <a:srgbClr val="64748B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）</a:t>
            </a:r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5FC3F90D-D97E-F2DC-24F0-BE495D888E58}"/>
              </a:ext>
            </a:extLst>
          </p:cNvPr>
          <p:cNvSpPr/>
          <p:nvPr/>
        </p:nvSpPr>
        <p:spPr>
          <a:xfrm>
            <a:off x="725805" y="3941217"/>
            <a:ext cx="10966513" cy="442852"/>
          </a:xfrm>
          <a:prstGeom prst="roundRect">
            <a:avLst>
              <a:gd name="adj" fmla="val 22003"/>
            </a:avLst>
          </a:prstGeom>
          <a:solidFill>
            <a:srgbClr val="F0FDF4"/>
          </a:solidFill>
          <a:ln w="21253" cap="flat">
            <a:solidFill>
              <a:srgbClr val="16A34A"/>
            </a:solidFill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B9424947-3A6D-9349-3431-3FDA582043D9}"/>
              </a:ext>
            </a:extLst>
          </p:cNvPr>
          <p:cNvSpPr txBox="1"/>
          <p:nvPr/>
        </p:nvSpPr>
        <p:spPr>
          <a:xfrm>
            <a:off x="776097" y="4045816"/>
            <a:ext cx="2321286" cy="244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75" b="1" spc="0" baseline="0">
                <a:ln/>
                <a:solidFill>
                  <a:srgbClr val="15803D"/>
                </a:solidFill>
                <a:latin typeface="Segoe UI Emoji"/>
                <a:sym typeface="Segoe UI Emoji"/>
                <a:rtl val="0"/>
              </a:rPr>
              <a:t>✅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三塊已寫進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 loop.py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，引擎驗證通過：</a:t>
            </a: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430ACA8F-C5BD-578F-559A-E1F49433F8CD}"/>
              </a:ext>
            </a:extLst>
          </p:cNvPr>
          <p:cNvSpPr txBox="1"/>
          <p:nvPr/>
        </p:nvSpPr>
        <p:spPr>
          <a:xfrm>
            <a:off x="3026092" y="4045816"/>
            <a:ext cx="5488924" cy="244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975" b="1" spc="0" baseline="0">
                <a:ln/>
                <a:solidFill>
                  <a:srgbClr val="15803D"/>
                </a:solidFill>
                <a:latin typeface="Segoe UI Emoji"/>
                <a:sym typeface="Segoe UI Emoji"/>
                <a:rtl val="0"/>
              </a:rPr>
              <a:t>📋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cs typeface="Segoe UI"/>
                <a:sym typeface="Segoe UI"/>
                <a:rtl val="0"/>
              </a:rPr>
              <a:t> 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待辦自動拉　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·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　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 Emoji"/>
                <a:ea typeface="微軟正黑體"/>
                <a:cs typeface="Segoe UI"/>
                <a:sym typeface="Segoe UI Emoji"/>
                <a:rtl val="0"/>
              </a:rPr>
              <a:t>⛽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 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預算煞車　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·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　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 Emoji"/>
                <a:ea typeface="微軟正黑體"/>
                <a:cs typeface="Segoe UI"/>
                <a:sym typeface="Segoe UI Emoji"/>
                <a:rtl val="0"/>
              </a:rPr>
              <a:t>🛑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 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卡住升級　　（成功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→commit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、失敗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Segoe UI"/>
                <a:ea typeface="微軟正黑體"/>
                <a:cs typeface="Segoe UI"/>
                <a:sym typeface="Segoe UI"/>
                <a:rtl val="0"/>
              </a:rPr>
              <a:t>→</a:t>
            </a:r>
            <a:r>
              <a:rPr lang="zh-TW" altLang="en-US" sz="975" b="1" spc="0" baseline="0">
                <a:ln/>
                <a:solidFill>
                  <a:srgbClr val="15803D"/>
                </a:solidFill>
                <a:latin typeface="微軟正黑體"/>
                <a:ea typeface="微軟正黑體"/>
                <a:cs typeface="Segoe UI"/>
                <a:sym typeface="微軟正黑體"/>
                <a:rtl val="0"/>
              </a:rPr>
              <a:t>升級，兩條路都測過）</a:t>
            </a:r>
          </a:p>
        </p:txBody>
      </p:sp>
      <p:sp>
        <p:nvSpPr>
          <p:cNvPr id="4" name="Text 1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一句話原則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升一級，別跳頂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還在「問」的人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89120" y="22860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這禮拜挑一件事，用交辦公式交辦一次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051560" y="3337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已經在交辦的人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389120" y="33375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讓它自己驗、自己修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438912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051560" y="4389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想更前面的人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389120" y="43891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補上安全欄杆，敢按下去走開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每個人的下一步不一樣。走一級，是一級。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收束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變的不是 AI，是你的角色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從「自己下去做的工人」</a:t>
            </a:r>
            <a:r>
              <a:rPr lang="en-US" sz="2400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　</a:t>
            </a:r>
            <a:r>
              <a:rPr lang="en-US" sz="24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「出題目、驗收品質的人」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39319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94A6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越會做事，瓶頸就越不在它，在你能不能把事情講清楚。含糊的交辦丟給很強的 AI，只會讓你更快拿到一個錯的東西。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3840480" cy="3840480"/>
          </a:xfrm>
          <a:prstGeom prst="ellipse">
            <a:avLst/>
          </a:prstGeom>
          <a:solidFill>
            <a:srgbClr val="0E1726"/>
          </a:solidFill>
          <a:ln w="19050">
            <a:solidFill>
              <a:srgbClr val="2A3A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謝謝，想聽聽你們的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310896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051560" y="31089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  </a:t>
            </a:r>
            <a:r>
              <a:rPr lang="en-US" sz="19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你上一次交辦 AI 一件事、它一路做到好、你完全沒插手，是什麼時候？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443484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51560" y="44348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  </a:t>
            </a:r>
            <a:r>
              <a:rPr lang="en-US" sz="19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你手上有沒有一件事，其實現在就能整包交辦出去？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548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2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737360" y="15544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自主時代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3300000"/>
            <a:ext cx="10607040" cy="1900000"/>
          </a:xfrm>
          <a:prstGeom prst="roundRect">
            <a:avLst>
              <a:gd name="adj" fmla="val 8333"/>
            </a:avLst>
          </a:prstGeom>
          <a:solidFill>
            <a:srgbClr val="18233C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051560" y="3300000"/>
            <a:ext cx="10058400" cy="1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EAF1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交辦一次目標，它自己「做一件、檢查一件、存檔、回報」，一路做到完，不用你每一步都盯——只有碰到錢/權限、時間預算到頂、或修不好走歪，才會主動停下來找你。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2585</Words>
  <Application>Microsoft Office PowerPoint</Application>
  <PresentationFormat>寬螢幕</PresentationFormat>
  <Paragraphs>196</Paragraphs>
  <Slides>16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微軟正黑體</vt:lpstr>
      <vt:lpstr>微軟正黑體</vt:lpstr>
      <vt:lpstr>Arial</vt:lpstr>
      <vt:lpstr>Cambria Math</vt:lpstr>
      <vt:lpstr>Segoe UI</vt:lpstr>
      <vt:lpstr>Segoe UI Emoji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用法，你在第幾代？</dc:title>
  <dc:subject>PptxGenJS Presentation</dc:subject>
  <dc:creator>分享人</dc:creator>
  <cp:lastModifiedBy>lee alien</cp:lastModifiedBy>
  <cp:revision>2</cp:revision>
  <dcterms:created xsi:type="dcterms:W3CDTF">2026-07-08T04:23:56Z</dcterms:created>
  <dcterms:modified xsi:type="dcterms:W3CDTF">2026-07-13T05:22:10Z</dcterms:modified>
</cp:coreProperties>
</file>